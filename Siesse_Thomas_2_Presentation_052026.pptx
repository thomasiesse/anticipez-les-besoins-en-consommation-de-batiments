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BlB3/GfLqbSXyhVu6QLLOY3DQ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Types de bâtiments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Bâtiments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Small/Mid Office</c:v>
                  </c:pt>
                  <c:pt idx="1">
                    <c:v>Warehouse</c:v>
                  </c:pt>
                  <c:pt idx="2">
                    <c:v>K-12 School</c:v>
                  </c:pt>
                  <c:pt idx="3">
                    <c:v>Large Office</c:v>
                  </c:pt>
                  <c:pt idx="4">
                    <c:v>Mixed Use</c:v>
                  </c:pt>
                  <c:pt idx="5">
                    <c:v>Retail</c:v>
                  </c:pt>
                  <c:pt idx="6">
                    <c:v>Hotel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287</c:v>
                </c:pt>
                <c:pt idx="1">
                  <c:v>187</c:v>
                </c:pt>
                <c:pt idx="2">
                  <c:v>133</c:v>
                </c:pt>
                <c:pt idx="3">
                  <c:v>169</c:v>
                </c:pt>
                <c:pt idx="4">
                  <c:v>109</c:v>
                </c:pt>
                <c:pt idx="5">
                  <c:v>89</c:v>
                </c:pt>
                <c:pt idx="6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B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943600" y="2926080"/>
            <a:ext cx="457200" cy="2194560"/>
          </a:xfrm>
          <a:prstGeom prst="rect">
            <a:avLst/>
          </a:prstGeom>
          <a:solidFill>
            <a:srgbClr val="0D3A52">
              <a:alpha val="80000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92240" y="2377440"/>
            <a:ext cx="640080" cy="2743200"/>
          </a:xfrm>
          <a:prstGeom prst="rect">
            <a:avLst/>
          </a:prstGeom>
          <a:solidFill>
            <a:srgbClr val="0D3A52">
              <a:alpha val="80000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223760" y="3200400"/>
            <a:ext cx="365760" cy="1920240"/>
          </a:xfrm>
          <a:prstGeom prst="rect">
            <a:avLst/>
          </a:prstGeom>
          <a:solidFill>
            <a:srgbClr val="0D3A52">
              <a:alpha val="80000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680960" y="1828800"/>
            <a:ext cx="548640" cy="3291840"/>
          </a:xfrm>
          <a:prstGeom prst="rect">
            <a:avLst/>
          </a:prstGeom>
          <a:solidFill>
            <a:srgbClr val="0D3A52">
              <a:alpha val="80000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321040" y="2743200"/>
            <a:ext cx="457200" cy="2377440"/>
          </a:xfrm>
          <a:prstGeom prst="rect">
            <a:avLst/>
          </a:prstGeom>
          <a:solidFill>
            <a:srgbClr val="0D3A52">
              <a:alpha val="80000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869680" y="3474720"/>
            <a:ext cx="365760" cy="1645920"/>
          </a:xfrm>
          <a:prstGeom prst="rect">
            <a:avLst/>
          </a:prstGeom>
          <a:solidFill>
            <a:srgbClr val="0D3A52">
              <a:alpha val="80000"/>
            </a:srgbClr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320040" y="4572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DATA SCIENCE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20040" y="96012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Seattle CO₂ Predictor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20040" y="237744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Predicting building emissions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to shape a carbon-neutral city by 2050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115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20040" y="4617720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A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8FA3"/>
                </a:solidFill>
                <a:latin typeface="Calibri"/>
                <a:ea typeface="Calibri"/>
                <a:cs typeface="Calibri"/>
                <a:sym typeface="Calibri"/>
              </a:rPr>
              <a:t>Thomas SIESSE</a:t>
            </a:r>
            <a:r>
              <a:rPr b="0" i="0" lang="en-US" sz="1000" u="none" cap="none" strike="noStrike">
                <a:solidFill>
                  <a:srgbClr val="6B8FA3"/>
                </a:solidFill>
                <a:latin typeface="Calibri"/>
                <a:ea typeface="Calibri"/>
                <a:cs typeface="Calibri"/>
                <a:sym typeface="Calibri"/>
              </a:rPr>
              <a:t>  ·  Data Engineer  ·  Seattle Building Energy Benchmarking 2016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Seattle vise la neutralité carbone en 2050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65760" y="1234440"/>
            <a:ext cx="2743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65760" y="1234440"/>
            <a:ext cx="2743200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65760" y="155448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3 376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26060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Bâtiments analysés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31089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relevés 2016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337560" y="1234440"/>
            <a:ext cx="2743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337560" y="1234440"/>
            <a:ext cx="2743200" cy="109728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337560" y="155448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Élevé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337560" y="26060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Coût des relevés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337560" y="31089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prédire sans mesurer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309360" y="1234440"/>
            <a:ext cx="2743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309360" y="1234440"/>
            <a:ext cx="2743200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309360" y="155448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2050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309360" y="26060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Objectif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309360" y="31089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neutralité carbone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B3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LE PROBLÈME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Comment prioriser sans tout mesurer 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65760" y="1600200"/>
            <a:ext cx="8412480" cy="5486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65760" y="1600200"/>
            <a:ext cx="73152" cy="54864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48640" y="1673352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Relevés coûteux et chronophages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65760" y="2258568"/>
            <a:ext cx="8412480" cy="5486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65760" y="2258568"/>
            <a:ext cx="73152" cy="54864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548640" y="2331720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Des milliers de bâtiments non encore mesurés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65760" y="2916936"/>
            <a:ext cx="8412480" cy="5486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365760" y="2916936"/>
            <a:ext cx="73152" cy="54864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548640" y="2990088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Impossible de savoir quels bâtiments prioriser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" y="3575304"/>
            <a:ext cx="8412480" cy="548640"/>
          </a:xfrm>
          <a:prstGeom prst="rect">
            <a:avLst/>
          </a:prstGeom>
          <a:solidFill>
            <a:srgbClr val="021F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65760" y="3575304"/>
            <a:ext cx="73152" cy="548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548640" y="3648456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Un modèle ML prédit les émissions à partir des caractéristiques du bâtiment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65760" y="4233672"/>
            <a:ext cx="8412480" cy="548640"/>
          </a:xfrm>
          <a:prstGeom prst="rect">
            <a:avLst/>
          </a:prstGeom>
          <a:solidFill>
            <a:srgbClr val="021F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65760" y="4233672"/>
            <a:ext cx="73152" cy="548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548640" y="4306824"/>
            <a:ext cx="8046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Accessible via une API — sans mesure préalable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LES DONNÉES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Seattle Building Energy Benchmarking 2016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65760" y="1188720"/>
            <a:ext cx="393192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57200" y="13258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57200" y="178308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3 376 bâtiments non résidentiels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57200" y="2295144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46 colonnes initiales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" y="280720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Données 2016 — ville de Seattle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7200" y="331927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Surface, usage, localisation, énergie...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3831336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Target : TotalGHGEmissions (CO₂)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0" y="1188720"/>
            <a:ext cx="420624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572000" y="1188720"/>
            <a:ext cx="420624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663440" y="13258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Après nettoyage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663440" y="173736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1 623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035040" y="18288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bâtiments retenus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663440" y="245059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035040" y="2542032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features sélectionnées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663440" y="3163824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035040" y="3255264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features finales (modèle API)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663440" y="387705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035040" y="3968496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nouvelles features créées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NETTOYAGE DES DONNÉES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Chaque décision documentée et justifiée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65760" y="1188720"/>
            <a:ext cx="841248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365760" y="1188720"/>
            <a:ext cx="91440" cy="7498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594360" y="132588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3 376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965960" y="13258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514600" y="132588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1 6</a:t>
            </a:r>
            <a:r>
              <a:rPr b="1" lang="en-US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931920" y="1371600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Suppression bâtiments résidentiels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65760" y="2103120"/>
            <a:ext cx="841248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365760" y="2103120"/>
            <a:ext cx="91440" cy="749808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594360" y="224028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1 6</a:t>
            </a:r>
            <a:r>
              <a:rPr b="1" lang="en-US" sz="2200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965960" y="22402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2514600" y="224028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n-US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626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931920" y="2286000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Suppression outliers signalés par Seattle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65760" y="3017520"/>
            <a:ext cx="841248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65760" y="3017520"/>
            <a:ext cx="91440" cy="749808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594360" y="315468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n-US" sz="2200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626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965960" y="31546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514600" y="315468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lang="en-US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931920" y="3200400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Suppression valeurs manquantes (target NaN)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65760" y="3931920"/>
            <a:ext cx="841248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65760" y="3931920"/>
            <a:ext cx="91440" cy="7498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594360" y="406908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1 6</a:t>
            </a:r>
            <a:r>
              <a:rPr b="1" lang="en-US" sz="22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965960" y="40690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514600" y="406908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1 623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931920" y="4114800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Suppression Bullitt Center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B33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nouvelles features créées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65760" y="1371600"/>
            <a:ext cx="4114800" cy="1005840"/>
          </a:xfrm>
          <a:prstGeom prst="rect">
            <a:avLst/>
          </a:prstGeom>
          <a:solidFill>
            <a:srgbClr val="0A20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365760" y="1371600"/>
            <a:ext cx="91440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594360" y="14630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GFAperFloor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94360" y="184708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Surface / étages — comportement thermique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383280" y="1508760"/>
            <a:ext cx="914400" cy="256032"/>
          </a:xfrm>
          <a:prstGeom prst="rect">
            <a:avLst/>
          </a:prstGeom>
          <a:solidFill>
            <a:srgbClr val="028090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3383280" y="15087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65760" y="2560320"/>
            <a:ext cx="4114800" cy="1005840"/>
          </a:xfrm>
          <a:prstGeom prst="rect">
            <a:avLst/>
          </a:prstGeom>
          <a:solidFill>
            <a:srgbClr val="0A20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365760" y="2560320"/>
            <a:ext cx="91440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594360" y="26517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HasParking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94360" y="303580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Présence parking (binaire)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383280" y="2697480"/>
            <a:ext cx="914400" cy="256032"/>
          </a:xfrm>
          <a:prstGeom prst="rect">
            <a:avLst/>
          </a:prstGeom>
          <a:solidFill>
            <a:srgbClr val="028090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383280" y="269748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65760" y="3749040"/>
            <a:ext cx="4114800" cy="1005840"/>
          </a:xfrm>
          <a:prstGeom prst="rect">
            <a:avLst/>
          </a:prstGeom>
          <a:solidFill>
            <a:srgbClr val="0A20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365760" y="3749040"/>
            <a:ext cx="91440" cy="100584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594360" y="38404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HasGas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94360" y="422452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Raccordement gaz naturel (binaire)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383280" y="3886200"/>
            <a:ext cx="914400" cy="256032"/>
          </a:xfrm>
          <a:prstGeom prst="rect">
            <a:avLst/>
          </a:prstGeom>
          <a:solidFill>
            <a:srgbClr val="F4845F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3383280" y="388620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Énergie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754880" y="1371600"/>
            <a:ext cx="4114800" cy="1005840"/>
          </a:xfrm>
          <a:prstGeom prst="rect">
            <a:avLst/>
          </a:prstGeom>
          <a:solidFill>
            <a:srgbClr val="0A20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754880" y="1371600"/>
            <a:ext cx="91440" cy="100584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983480" y="14630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HasElectricity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983480" y="184708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Raccordement électrique (binaire)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772400" y="1508760"/>
            <a:ext cx="914400" cy="256032"/>
          </a:xfrm>
          <a:prstGeom prst="rect">
            <a:avLst/>
          </a:prstGeom>
          <a:solidFill>
            <a:srgbClr val="F4845F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7772400" y="150876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Énergie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754880" y="2560320"/>
            <a:ext cx="4114800" cy="1005840"/>
          </a:xfrm>
          <a:prstGeom prst="rect">
            <a:avLst/>
          </a:prstGeom>
          <a:solidFill>
            <a:srgbClr val="0A20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754880" y="2560320"/>
            <a:ext cx="91440" cy="100584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983480" y="26517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HasSteam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983480" y="303580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Réseau vapeur Seattle (binaire)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7772400" y="2697480"/>
            <a:ext cx="914400" cy="256032"/>
          </a:xfrm>
          <a:prstGeom prst="rect">
            <a:avLst/>
          </a:prstGeom>
          <a:solidFill>
            <a:srgbClr val="F4845F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7772400" y="269748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Énergie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754880" y="3749040"/>
            <a:ext cx="4114800" cy="1005840"/>
          </a:xfrm>
          <a:prstGeom prst="rect">
            <a:avLst/>
          </a:prstGeom>
          <a:solidFill>
            <a:srgbClr val="0A20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4754880" y="3749040"/>
            <a:ext cx="91440" cy="10058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983480" y="38404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NombreUsages ⚠️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983480" y="422452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Nb d'usages différents — créée mais non retenue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772400" y="3886200"/>
            <a:ext cx="914400" cy="256032"/>
          </a:xfrm>
          <a:prstGeom prst="rect">
            <a:avLst/>
          </a:prstGeom>
          <a:solidFill>
            <a:srgbClr val="64748B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7772400" y="388620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INSIGHTS CLÉS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 que les données révèlent sur les bâtiments de Seattle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2" name="Google Shape;182;p7"/>
          <p:cNvGraphicFramePr/>
          <p:nvPr/>
        </p:nvGraphicFramePr>
        <p:xfrm>
          <a:off x="365760" y="1143000"/>
          <a:ext cx="5029200" cy="34747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83" name="Google Shape;183;p7"/>
          <p:cNvSpPr/>
          <p:nvPr/>
        </p:nvSpPr>
        <p:spPr>
          <a:xfrm>
            <a:off x="5669280" y="1143000"/>
            <a:ext cx="31089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5760720" y="126187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Points clés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760720" y="1737360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🏢  Office &amp; Warehouse représentent +25% des bâtiments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760720" y="2286000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🏥  Hôpitaux = outliers légitimes (fonctionnement 24/7)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760720" y="2834640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🔥  HasGas = 2ème feature la plus prédictive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760720" y="3383280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📐  Surface totale = principal déterminant des émissions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760720" y="3931920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⭐  ENERGYSTARScore : 549 NaN imputés par médiane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MODÉLISATION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croisée 5 folds — 3 modèles comparés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65760" y="1188720"/>
            <a:ext cx="2286000" cy="457200"/>
          </a:xfrm>
          <a:prstGeom prst="rect">
            <a:avLst/>
          </a:prstGeom>
          <a:solidFill>
            <a:srgbClr val="02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36576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Modèle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2651760" y="1188720"/>
            <a:ext cx="1005840" cy="457200"/>
          </a:xfrm>
          <a:prstGeom prst="rect">
            <a:avLst/>
          </a:prstGeom>
          <a:solidFill>
            <a:srgbClr val="02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2651760" y="118872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R² Train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657600" y="1188720"/>
            <a:ext cx="1005840" cy="457200"/>
          </a:xfrm>
          <a:prstGeom prst="rect">
            <a:avLst/>
          </a:prstGeom>
          <a:solidFill>
            <a:srgbClr val="02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3657600" y="118872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R²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663440" y="1188720"/>
            <a:ext cx="1005840" cy="457200"/>
          </a:xfrm>
          <a:prstGeom prst="rect">
            <a:avLst/>
          </a:prstGeom>
          <a:solidFill>
            <a:srgbClr val="02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663440" y="118872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669280" y="1188720"/>
            <a:ext cx="1005840" cy="457200"/>
          </a:xfrm>
          <a:prstGeom prst="rect">
            <a:avLst/>
          </a:prstGeom>
          <a:solidFill>
            <a:srgbClr val="02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5669280" y="118872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675120" y="1188720"/>
            <a:ext cx="1371600" cy="457200"/>
          </a:xfrm>
          <a:prstGeom prst="rect">
            <a:avLst/>
          </a:prstGeom>
          <a:solidFill>
            <a:srgbClr val="02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6675120" y="11887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Overfit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65760" y="1645920"/>
            <a:ext cx="2286000" cy="713232"/>
          </a:xfrm>
          <a:prstGeom prst="rect">
            <a:avLst/>
          </a:prstGeom>
          <a:solidFill>
            <a:srgbClr val="02809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2651760" y="1645920"/>
            <a:ext cx="1005840" cy="713232"/>
          </a:xfrm>
          <a:prstGeom prst="rect">
            <a:avLst/>
          </a:prstGeom>
          <a:solidFill>
            <a:srgbClr val="02809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3657600" y="1645920"/>
            <a:ext cx="1005840" cy="713232"/>
          </a:xfrm>
          <a:prstGeom prst="rect">
            <a:avLst/>
          </a:prstGeom>
          <a:solidFill>
            <a:srgbClr val="02809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663440" y="1645920"/>
            <a:ext cx="1005840" cy="713232"/>
          </a:xfrm>
          <a:prstGeom prst="rect">
            <a:avLst/>
          </a:prstGeom>
          <a:solidFill>
            <a:srgbClr val="02809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669280" y="1645920"/>
            <a:ext cx="1005840" cy="713232"/>
          </a:xfrm>
          <a:prstGeom prst="rect">
            <a:avLst/>
          </a:prstGeom>
          <a:solidFill>
            <a:srgbClr val="02809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6675120" y="1645920"/>
            <a:ext cx="1371600" cy="713232"/>
          </a:xfrm>
          <a:prstGeom prst="rect">
            <a:avLst/>
          </a:prstGeom>
          <a:solidFill>
            <a:srgbClr val="02809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365760" y="1691640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Régression Linéaire 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2651760" y="169164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657600" y="169164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663440" y="169164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0.57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669280" y="169164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675120" y="1691640"/>
            <a:ext cx="1371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365760" y="2423160"/>
            <a:ext cx="22860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2651760" y="2423160"/>
            <a:ext cx="10058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3657600" y="2423160"/>
            <a:ext cx="10058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4663440" y="2423160"/>
            <a:ext cx="10058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5669280" y="2423160"/>
            <a:ext cx="10058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6675120" y="2423160"/>
            <a:ext cx="13716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365760" y="2468880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SVR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2651760" y="246888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0.79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657600" y="246888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0.69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663440" y="246888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0.58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669280" y="246888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0.76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6675120" y="2468880"/>
            <a:ext cx="1371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Léger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365760" y="3200400"/>
            <a:ext cx="22860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2651760" y="3200400"/>
            <a:ext cx="10058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3657600" y="3200400"/>
            <a:ext cx="10058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4663440" y="3200400"/>
            <a:ext cx="10058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5669280" y="3200400"/>
            <a:ext cx="10058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6675120" y="3200400"/>
            <a:ext cx="13716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365760" y="3246120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2651760" y="324612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0.96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657600" y="324612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0.68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4663440" y="324612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0.58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5669280" y="3246120"/>
            <a:ext cx="1005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0.77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6675120" y="3246120"/>
            <a:ext cx="1371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Fort 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✅ La régression linéaire gagne — relations proportionnelles entre surface et émissions CO₂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B33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FEATURE IMPORTANCE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Permutation Importance — Régression Linéaire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65785" y="1188715"/>
            <a:ext cx="3017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PropertyGFATotal_log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3474657" y="1216141"/>
            <a:ext cx="5029200" cy="3474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3474657" y="1216141"/>
            <a:ext cx="5029200" cy="347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8595335" y="1216116"/>
            <a:ext cx="731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65760" y="1764819"/>
            <a:ext cx="3017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HasGas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3474645" y="1764820"/>
            <a:ext cx="5029200" cy="3474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3474720" y="1764795"/>
            <a:ext cx="2615100" cy="34740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6181269" y="1764795"/>
            <a:ext cx="731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52%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365697" y="2370586"/>
            <a:ext cx="3017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PrimaryPropertyType_Other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474720" y="2368311"/>
            <a:ext cx="5029200" cy="3474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3474720" y="2368311"/>
            <a:ext cx="1508700" cy="347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5074870" y="2368311"/>
            <a:ext cx="731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365647" y="2926064"/>
            <a:ext cx="3017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ENERGYSTARScore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3474720" y="2939765"/>
            <a:ext cx="5029200" cy="3474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3474720" y="2939765"/>
            <a:ext cx="603600" cy="347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4116989" y="2942053"/>
            <a:ext cx="731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365760" y="3516993"/>
            <a:ext cx="3017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HasSteam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3474720" y="3515832"/>
            <a:ext cx="5029200" cy="3474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3474645" y="3515832"/>
            <a:ext cx="553200" cy="34740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4078260" y="3515832"/>
            <a:ext cx="731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11%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365722" y="4103923"/>
            <a:ext cx="3017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NumberofFloors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3474645" y="4103348"/>
            <a:ext cx="5029200" cy="3474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3474645" y="4103311"/>
            <a:ext cx="452700" cy="347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3995588" y="4103311"/>
            <a:ext cx="731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365760" y="4663440"/>
            <a:ext cx="7315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548640" y="4690872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Surface + raccordement gaz = 52% de l'importance totale du modèle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L'API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modèle accessible à tous via une API REST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365760" y="1188720"/>
            <a:ext cx="841248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365760" y="1188720"/>
            <a:ext cx="91440" cy="7498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594360" y="124358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Citoyen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94360" y="157276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Envoie les infos de son bâtiment (surface, type, quartier...)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4297680" y="1956816"/>
            <a:ext cx="5486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365760" y="2103120"/>
            <a:ext cx="841248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365760" y="2103120"/>
            <a:ext cx="91440" cy="749808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594360" y="215798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Pydantic (validation.py)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94360" y="248716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Valide les données — rejette les valeurs incohérentes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4297680" y="2871216"/>
            <a:ext cx="5486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365760" y="3017520"/>
            <a:ext cx="841248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365760" y="3017520"/>
            <a:ext cx="91440" cy="7498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594360" y="307238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service.py (BentoML)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594360" y="340156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Preprocessing + prédiction — Linear Regression R²=0.71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4297680" y="3785616"/>
            <a:ext cx="5486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365760" y="3931920"/>
            <a:ext cx="841248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365760" y="3931920"/>
            <a:ext cx="91440" cy="7498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594360" y="398678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AWS ECS Fargate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594360" y="431596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Déployé dans le Cloud — disponible 24/7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B33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DÉMONSTRATION EN DIRECT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Seattle CO₂ Predictor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1371600" y="2377440"/>
            <a:ext cx="6400800" cy="1463040"/>
          </a:xfrm>
          <a:prstGeom prst="rect">
            <a:avLst/>
          </a:prstGeom>
          <a:solidFill>
            <a:srgbClr val="0A20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1371600" y="2377440"/>
            <a:ext cx="640080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1463040" y="25603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 Lien communiqué en direct pendant la soutenance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1463090" y="3063258"/>
            <a:ext cx="6217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EAECF0"/>
                </a:solidFill>
              </a:rPr>
              <a:t>POST /predict  ·  HTTPS  ·  AWS ECS Fargate  ·  Paris (eu-west-3)</a:t>
            </a:r>
            <a:endParaRPr sz="1100">
              <a:solidFill>
                <a:srgbClr val="EAECF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1371600" y="4023360"/>
            <a:ext cx="6400800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1371600" y="4023360"/>
            <a:ext cx="91440" cy="82296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1554480" y="4069080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La validation Pydantic sera testée en direct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5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5D4"/>
                </a:solidFill>
                <a:latin typeface="Calibri"/>
                <a:ea typeface="Calibri"/>
                <a:cs typeface="Calibri"/>
                <a:sym typeface="Calibri"/>
              </a:rPr>
              <a:t>— envoi de données incohérentes → erreur 400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LIMITES &amp; PERSPECTIVES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 qu'on peut améliorer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365760" y="1188720"/>
            <a:ext cx="393192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365760" y="1188720"/>
            <a:ext cx="3931920" cy="9144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457200" y="132588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⚠️  Limites actuelles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457200" y="182880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Catégorie "Other" trop hétérogène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457200" y="246888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Hôpitaux exclus de l'entraînement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457200" y="310896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R² = 0.71 → 29% variance inexpliquée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457200" y="37490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API en HTTP (pas HTTPS)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4846320" y="1188720"/>
            <a:ext cx="393192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4846320" y="1188720"/>
            <a:ext cx="3931920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4937760" y="132588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🚀  Perspectives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4937760" y="182880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Données supplémentaires : rénovation, certification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4937760" y="246888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Enrichir avec données IoT / capteurs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937760" y="310896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Interface web grand public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937760" y="37490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Déploiement HTTPS avec Load Balancer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B33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EN RÉSUMÉ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457200" y="86868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Prédire les émissions,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agir pour 2050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457200" y="2377440"/>
            <a:ext cx="2560320" cy="2286000"/>
          </a:xfrm>
          <a:prstGeom prst="rect">
            <a:avLst/>
          </a:prstGeom>
          <a:solidFill>
            <a:srgbClr val="0A20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457200" y="2377440"/>
            <a:ext cx="256032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457200" y="26060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0.71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57200" y="34747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R² — modèle linéaire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457200" y="39319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sans mesure préalable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3291840" y="2377440"/>
            <a:ext cx="2560320" cy="2286000"/>
          </a:xfrm>
          <a:prstGeom prst="rect">
            <a:avLst/>
          </a:prstGeom>
          <a:solidFill>
            <a:srgbClr val="0A20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3291840" y="2377440"/>
            <a:ext cx="2560320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3291840" y="26060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3291840" y="34747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 structurelles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3291840" y="39319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surface, type, énergie...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6126480" y="2377440"/>
            <a:ext cx="2560320" cy="2286000"/>
          </a:xfrm>
          <a:prstGeom prst="rect">
            <a:avLst/>
          </a:prstGeom>
          <a:solidFill>
            <a:srgbClr val="0A203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6126480" y="2377440"/>
            <a:ext cx="2560320" cy="91440"/>
          </a:xfrm>
          <a:prstGeom prst="rect">
            <a:avLst/>
          </a:prstGeom>
          <a:solidFill>
            <a:srgbClr val="F484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6126480" y="26060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845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4845F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6126480" y="34747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déployé dans le cloud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6126480" y="39319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API accessible en direct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2026-05-28T12:58:54Z</dcterms:created>
  <dc:creator>PptxGenJS</dc:creator>
</cp:coreProperties>
</file>